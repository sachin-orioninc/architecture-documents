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575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EB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0" y="457200"/>
            <a:ext cx="2743200" cy="2743200"/>
          </a:xfrm>
          <a:prstGeom prst="ellipse">
            <a:avLst/>
          </a:prstGeom>
          <a:solidFill>
            <a:srgbClr val="D6E8F7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961120" y="1188720"/>
            <a:ext cx="1280160" cy="1280160"/>
          </a:xfrm>
          <a:prstGeom prst="ellipse">
            <a:avLst/>
          </a:prstGeom>
          <a:solidFill>
            <a:srgbClr val="0078D4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0" y="3200400"/>
            <a:ext cx="1828800" cy="1828800"/>
          </a:xfrm>
          <a:prstGeom prst="ellipse">
            <a:avLst/>
          </a:prstGeom>
          <a:solidFill>
            <a:srgbClr val="00B4D8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005840"/>
            <a:ext cx="2560320" cy="3200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APP MODERNIZATION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to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5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on Azure Cloud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Movie Ticket Booking System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0" y="1097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</a:rPr>
              <a:t>CINEBOOK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9808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Movie Booking Platform</a:t>
            </a:r>
          </a:p>
        </p:txBody>
      </p:sp>
      <p:sp>
        <p:nvSpPr>
          <p:cNvPr id="16" name="Shape 14"/>
          <p:cNvSpPr/>
          <p:nvPr/>
        </p:nvSpPr>
        <p:spPr>
          <a:xfrm>
            <a:off x="7223760" y="3108960"/>
            <a:ext cx="2011680" cy="41148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2376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Current State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09760" y="3108960"/>
            <a:ext cx="2011680" cy="41148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50976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Target Architecture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3703320"/>
            <a:ext cx="2011680" cy="411480"/>
          </a:xfrm>
          <a:prstGeom prst="rect">
            <a:avLst/>
          </a:prstGeom>
          <a:solidFill>
            <a:srgbClr val="0078D4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22376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Azure Cloud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3703320"/>
            <a:ext cx="2011680" cy="41148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509760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AI &amp; ML Services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Azure | Kubernetes | Microservices | Event-Driven | AI/ML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1216152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</a:rPr>
              <a:t>Current State – Monolithic Architecture, Tech Stack &amp; Challenges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931920" y="1051560"/>
            <a:ext cx="4297680" cy="3840480"/>
          </a:xfrm>
          <a:prstGeom prst="rect">
            <a:avLst/>
          </a:prstGeom>
          <a:solidFill>
            <a:srgbClr val="E8F0F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931920" y="1051560"/>
            <a:ext cx="429768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931920" y="1051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MONOLITH APPLICATION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1572768"/>
            <a:ext cx="1920240" cy="594360"/>
          </a:xfrm>
          <a:prstGeom prst="rect">
            <a:avLst/>
          </a:prstGeom>
          <a:solidFill>
            <a:srgbClr val="E2EBF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069080" y="1572768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Booking Module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572768"/>
            <a:ext cx="1920240" cy="594360"/>
          </a:xfrm>
          <a:prstGeom prst="rect">
            <a:avLst/>
          </a:prstGeom>
          <a:solidFill>
            <a:srgbClr val="E2EBF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72200" y="1572768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User Management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69080" y="2322576"/>
            <a:ext cx="1920240" cy="594360"/>
          </a:xfrm>
          <a:prstGeom prst="rect">
            <a:avLst/>
          </a:prstGeom>
          <a:solidFill>
            <a:srgbClr val="E2EBF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69080" y="2322576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Movie Catalog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2322576"/>
            <a:ext cx="1920240" cy="594360"/>
          </a:xfrm>
          <a:prstGeom prst="rect">
            <a:avLst/>
          </a:prstGeom>
          <a:solidFill>
            <a:srgbClr val="E2EBF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0" y="2322576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Payment Module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3072384"/>
            <a:ext cx="1920240" cy="594360"/>
          </a:xfrm>
          <a:prstGeom prst="rect">
            <a:avLst/>
          </a:prstGeom>
          <a:solidFill>
            <a:srgbClr val="E2EBF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69080" y="3072384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Notification Svc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3072384"/>
            <a:ext cx="1920240" cy="594360"/>
          </a:xfrm>
          <a:prstGeom prst="rect">
            <a:avLst/>
          </a:prstGeom>
          <a:solidFill>
            <a:srgbClr val="E2EBF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72200" y="3072384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Reporting Module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69080" y="3822192"/>
            <a:ext cx="1920240" cy="594360"/>
          </a:xfrm>
          <a:prstGeom prst="rect">
            <a:avLst/>
          </a:prstGeom>
          <a:solidFill>
            <a:srgbClr val="E2EBF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69080" y="382219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Seat Management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3822192"/>
            <a:ext cx="1920240" cy="594360"/>
          </a:xfrm>
          <a:prstGeom prst="rect">
            <a:avLst/>
          </a:prstGeom>
          <a:solidFill>
            <a:srgbClr val="E2EBF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72200" y="3822192"/>
            <a:ext cx="1920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Authentication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5029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1051560"/>
            <a:ext cx="3383280" cy="2418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74320" y="1051560"/>
            <a:ext cx="3383280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1051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TECH STACK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1499616"/>
            <a:ext cx="3291840" cy="3383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1508760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Backend: 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71600" y="150876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.NET Framework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1874520"/>
            <a:ext cx="329184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11480" y="1883664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Frontend: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371600" y="188366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MVC Razor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2249424"/>
            <a:ext cx="3291840" cy="3383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11480" y="225856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Database: 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71600" y="225856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MS SQL Server (Single)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2624328"/>
            <a:ext cx="329184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11480" y="263347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Server: 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371600" y="263347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2999232"/>
            <a:ext cx="3291840" cy="3383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3" name="Text 41"/>
          <p:cNvSpPr/>
          <p:nvPr/>
        </p:nvSpPr>
        <p:spPr>
          <a:xfrm>
            <a:off x="411480" y="300837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Deploy: 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371600" y="300837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On-Prem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503920" y="1051560"/>
            <a:ext cx="338328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503920" y="1051560"/>
            <a:ext cx="338328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503920" y="1051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KEY CHALLENGES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549640" y="1490472"/>
            <a:ext cx="3291840" cy="39319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613648" y="1611376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823960" y="149860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Tightly coupled – no independent deploy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549640" y="1938528"/>
            <a:ext cx="329184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613648" y="2064512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823960" y="194665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Long release cycles (weeks/months)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549640" y="2386584"/>
            <a:ext cx="3291840" cy="39319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613648" y="250748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823960" y="240487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Single point of failure – full outage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549640" y="2834640"/>
            <a:ext cx="329184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8613648" y="2960624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823960" y="28529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Cannot scale individual components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549640" y="3282696"/>
            <a:ext cx="3291840" cy="39319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8613648" y="34086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823960" y="3300984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Shared DB – schema bottleneck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549640" y="3730752"/>
            <a:ext cx="329184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613648" y="3861816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8823960" y="37490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Hard to adopt new technologies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549640" y="4178808"/>
            <a:ext cx="3291840" cy="39319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8613648" y="4309872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8823960" y="419709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Poor developer experience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549640" y="4626864"/>
            <a:ext cx="329184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8613648" y="475792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8823960" y="464515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No CI/CD – manual deployments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549640" y="5074920"/>
            <a:ext cx="3291840" cy="39319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8613648" y="5205984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8823960" y="509320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High regression risk on every change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74320" y="6473952"/>
            <a:ext cx="11612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CineBook Monolith  |  All modules in one deployable unit  |  Scale = Scale Everything</a:t>
            </a:r>
            <a:endParaRPr lang="en-US" sz="1100" dirty="0"/>
          </a:p>
        </p:txBody>
      </p:sp>
      <p:sp>
        <p:nvSpPr>
          <p:cNvPr id="76" name="Flowchart: Magnetic Disk 75">
            <a:extLst>
              <a:ext uri="{FF2B5EF4-FFF2-40B4-BE49-F238E27FC236}">
                <a16:creationId xmlns:a16="http://schemas.microsoft.com/office/drawing/2014/main" id="{B8B634F0-5ECA-FDAE-FA44-CD4A29465515}"/>
              </a:ext>
            </a:extLst>
          </p:cNvPr>
          <p:cNvSpPr/>
          <p:nvPr/>
        </p:nvSpPr>
        <p:spPr>
          <a:xfrm>
            <a:off x="5181289" y="5155350"/>
            <a:ext cx="1798009" cy="84311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Single SQL Server DB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>
            <a:extLst>
              <a:ext uri="{FF2B5EF4-FFF2-40B4-BE49-F238E27FC236}">
                <a16:creationId xmlns:a16="http://schemas.microsoft.com/office/drawing/2014/main" id="{FC41F4A4-F0DB-B809-A310-8D364D49BF1B}"/>
              </a:ext>
            </a:extLst>
          </p:cNvPr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121615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/>
              <a:t>Different Types of Architecture Patterns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5778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73152" cy="1783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078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🏛  Monolithic Architecture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115568"/>
            <a:ext cx="1691640" cy="256032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115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Current State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1444752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Entire application built and deployed as a single unit. All modules share one codebase, one database, and one deployment pipeline.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1847088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</a:rPr>
              <a:t>✅ Simple to develop initially, easy to test end-to-end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2093976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⚠  Tightly coupled, cannot scale independently, slow releases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" y="2377440"/>
            <a:ext cx="5257800" cy="32004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9572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B2A"/>
                </a:solidFill>
              </a:rPr>
              <a:t>CineBook: CineBook today — Booking, Payment, Seat all in one deployable WAR/EXE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55778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07792"/>
            <a:ext cx="73152" cy="1783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962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🧩  Microservices Architecture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2999232"/>
            <a:ext cx="1691640" cy="256032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Chosen Pattern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912" y="3328416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Application decomposed into small, independently deployable services. Each service owns its domain, codebase, and data store.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3730752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</a:rPr>
              <a:t>✅ Independent scaling, faster releases, technology flexibility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" y="3977640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⚠  Distributed complexity, needs strong DevOps maturity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" y="4261104"/>
            <a:ext cx="5257800" cy="320040"/>
          </a:xfrm>
          <a:prstGeom prst="rect">
            <a:avLst/>
          </a:prstGeom>
          <a:solidFill>
            <a:srgbClr val="0078D4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2793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B2A"/>
                </a:solidFill>
              </a:rPr>
              <a:t>CineBook: CineBook target — 6 services: User, Catalog, Booking, Payment, Seat, Notification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791456"/>
            <a:ext cx="55778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791456"/>
            <a:ext cx="73152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4846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⚡  Serverless Architecture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23360" y="4882896"/>
            <a:ext cx="1691640" cy="256032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0" y="4882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Complementary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8912" y="521208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Event-triggered, stateless functions managed entirely by the cloud provider. No server provisioning or capacity planning required.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" y="5614416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</a:rPr>
              <a:t>✅ Zero idle cost, infinite scale, no infrastructure management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" y="5861304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⚠  Cold start latency, not suited for long-running processes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8912" y="6144768"/>
            <a:ext cx="5257800" cy="32004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616305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B2A"/>
                </a:solidFill>
              </a:rPr>
              <a:t>CineBook: CineBook usage — PDF ticket generation, seat expiry cleanup, payment webhooks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09360" y="1024128"/>
            <a:ext cx="55778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1024128"/>
            <a:ext cx="73152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10789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🔌  SOA – Service Oriented Architecture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829800" y="1115568"/>
            <a:ext cx="1920240" cy="256032"/>
          </a:xfrm>
          <a:prstGeom prst="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829800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Legacy / Predecessor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73952" y="1444752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Coarse-grained services connected via a centralised Enterprise Service Bus (ESB). Each service exposes a standard interface (WSDL/SOAP). Predecessor to Microservices.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73952" y="1847088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</a:rPr>
              <a:t>✅ Reusable services, standardised contracts, good for large enterprises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73952" y="2093976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⚠  ESB becomes single point of failure, heavyweight, slow to change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73952" y="2377440"/>
            <a:ext cx="5257800" cy="320040"/>
          </a:xfrm>
          <a:prstGeom prst="rect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239572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B2A"/>
                </a:solidFill>
              </a:rPr>
              <a:t>Now being retired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09360" y="2907792"/>
            <a:ext cx="55778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09360" y="2907792"/>
            <a:ext cx="73152" cy="1783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6473952" y="29626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📨  Event-Driven Architecture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829800" y="2999232"/>
            <a:ext cx="1920240" cy="256032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829800" y="2999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Complementary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73952" y="3328416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Services communicate by producing and consuming events asynchronously via a message broker. No direct service-to-service calls for state changes.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73952" y="3730752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</a:rPr>
              <a:t>✅ Loose coupling, high resilience, natural audit trail of all actions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73952" y="3977640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⚠  Eventual consistency, harder to trace and debug distributed flows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73952" y="4261104"/>
            <a:ext cx="5257800" cy="32004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537960" y="42793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B2A"/>
                </a:solidFill>
              </a:rPr>
              <a:t>CineBook: BookingCreated event → fans out to Payment, Notification &amp; Analytics simultaneously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09360" y="4791456"/>
            <a:ext cx="55778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09360" y="4791456"/>
            <a:ext cx="73152" cy="1783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8" name="Text 56"/>
          <p:cNvSpPr/>
          <p:nvPr/>
        </p:nvSpPr>
        <p:spPr>
          <a:xfrm>
            <a:off x="6473952" y="4846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🖥  Headless Architecture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829800" y="4882896"/>
            <a:ext cx="1920240" cy="256032"/>
          </a:xfrm>
          <a:prstGeom prst="rect">
            <a:avLst/>
          </a:prstGeom>
          <a:solidFill>
            <a:srgbClr val="0078D4">
              <a:alpha val="8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829800" y="48828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Complementary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473952" y="5212080"/>
            <a:ext cx="525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Backend is fully decoupled from the frontend. Backend exposes pure APIs consumed by any channel — web, mobile, kiosk, voice, smart TV — independently.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73952" y="5614416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6534"/>
                </a:solidFill>
              </a:rPr>
              <a:t>✅ Any frontend can consume same APIs, omnichannel ready, faster UI iteration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73952" y="5861304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</a:rPr>
              <a:t>⚠  More frontend complexity, requires strong API governance and versioning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73952" y="6144768"/>
            <a:ext cx="5257800" cy="320040"/>
          </a:xfrm>
          <a:prstGeom prst="rect">
            <a:avLst/>
          </a:prstGeom>
          <a:solidFill>
            <a:srgbClr val="0078D4">
              <a:alpha val="1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537960" y="616305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B2A"/>
                </a:solidFill>
              </a:rPr>
              <a:t>CineBook: CineBook API Gateway serves the same booking &amp; catalog APIs to Web, Mobile App, Kiosk &amp; B2B partners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80760" y="1024128"/>
            <a:ext cx="0" cy="5559552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274320" y="6473952"/>
            <a:ext cx="1161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12161520" cy="640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C55E"/>
                </a:solidFill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</a:rPr>
              <a:t>Target State – Microservices Architecture, Tech Stack &amp; Design Principles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612880" cy="347472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CLIENTS:  Web Browser (Angular/React)   |   Mobile App (out of scope)   |   Third-party (B2B APIs)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481328"/>
            <a:ext cx="4846320" cy="457200"/>
          </a:xfrm>
          <a:prstGeom prst="rect">
            <a:avLst/>
          </a:prstGeom>
          <a:solidFill>
            <a:srgbClr val="0078D4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0" y="14813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E293B"/>
                </a:solidFill>
              </a:rPr>
              <a:t>Azure API Management  (with API Gateway ) +  Azure Front Door (CDN)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3657600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REST/gRPC  |  Own DB  |  K8s Pod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1371600" cy="228600"/>
          </a:xfrm>
          <a:prstGeom prst="rect">
            <a:avLst/>
          </a:prstGeom>
          <a:solidFill>
            <a:srgbClr val="0078D4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SQL Server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21031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97680" y="2103120"/>
            <a:ext cx="36576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434840" y="22128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Movie Catalog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REST/gRPC  |  Own DB  |  K8s Pod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2834640"/>
            <a:ext cx="1371600" cy="2286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43484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E293B"/>
                </a:solidFill>
              </a:rPr>
              <a:t>CosmosDB </a:t>
            </a:r>
            <a:r>
              <a:rPr lang="en-IN" sz="800" dirty="0"/>
              <a:t>NoSQL (Core SQL)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0" y="21031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29600" y="2103120"/>
            <a:ext cx="36576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366760" y="22128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Booking 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REST/gRPC  |  Own DB  |  K8s Pod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66760" y="2834640"/>
            <a:ext cx="1371600" cy="228600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36676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SQL Server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383280"/>
            <a:ext cx="365760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34930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Payment Service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REST/gRPC  |  Own DB  |  K8s Pod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4114800"/>
            <a:ext cx="1371600" cy="228600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2920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SQL Server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97680" y="33832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297680" y="3383280"/>
            <a:ext cx="365760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434840" y="34930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Seat Service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3484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REST/gRPC  |  Own DB  |  K8s Pod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34840" y="4114800"/>
            <a:ext cx="1371600" cy="228600"/>
          </a:xfrm>
          <a:prstGeom prst="rect">
            <a:avLst/>
          </a:prstGeom>
          <a:solidFill>
            <a:srgbClr val="F9731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434840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Redis + SQL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29600" y="338328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229600" y="3383280"/>
            <a:ext cx="36576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366760" y="34930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Notification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6676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REST/gRPC  |  Own DB  |  K8s Pod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66760" y="4114800"/>
            <a:ext cx="1371600" cy="22860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366760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Queue + SQL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681728"/>
            <a:ext cx="11612880" cy="384048"/>
          </a:xfrm>
          <a:prstGeom prst="rect">
            <a:avLst/>
          </a:prstGeom>
          <a:solidFill>
            <a:srgbClr val="E8F0F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74320" y="4681728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Event Bus:  Azure Service Bus  |  Apache Kafka  (Async, Event-Driven Communication)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27432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DESIGN PRINCIPLES: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939696" y="5166360"/>
            <a:ext cx="1554480" cy="502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E6FF"/>
                </a:solidFill>
              </a:rPr>
              <a:t>🔒 Loose Coupling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13048" y="5166360"/>
            <a:ext cx="1554480" cy="502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E6FF"/>
                </a:solidFill>
              </a:rPr>
              <a:t>📦 Single Responsibility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86400" y="5166360"/>
            <a:ext cx="1554480" cy="502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E6FF"/>
                </a:solidFill>
              </a:rPr>
              <a:t>🔄 Event-Driven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62800" y="5177028"/>
            <a:ext cx="1554480" cy="502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E6FF"/>
                </a:solidFill>
              </a:rPr>
              <a:t>📊 Observability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645880" y="5175504"/>
            <a:ext cx="1554480" cy="502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E6FF"/>
                </a:solidFill>
              </a:rPr>
              <a:t>🚀 CI/CD First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332720" y="5165776"/>
            <a:ext cx="1554480" cy="502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0E6FF"/>
                </a:solidFill>
              </a:rPr>
              <a:t>🛡 Zero Trust Security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74320" y="5760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TECH STACK: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920240" y="5806440"/>
            <a:ext cx="1207008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192024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Kubernetes (AKS)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00400" y="5806440"/>
            <a:ext cx="1207008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Docker + ACR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480560" y="5806440"/>
            <a:ext cx="1207008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48056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Azure Cloud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760720" y="5806440"/>
            <a:ext cx="1207008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9" name="Text 67"/>
          <p:cNvSpPr/>
          <p:nvPr/>
        </p:nvSpPr>
        <p:spPr>
          <a:xfrm>
            <a:off x="576072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NET 10 (LTS)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040880" y="5806440"/>
            <a:ext cx="1207008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1" name="Text 69"/>
          <p:cNvSpPr/>
          <p:nvPr/>
        </p:nvSpPr>
        <p:spPr>
          <a:xfrm>
            <a:off x="704088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Redis Cache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321040" y="5806440"/>
            <a:ext cx="1207008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832104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Kafka / Service Bus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601200" y="5806440"/>
            <a:ext cx="1207008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960120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React / Angular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0881360" y="5806440"/>
            <a:ext cx="1207008" cy="3657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10881360" y="5806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Terraform/Bicep , Helm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1216152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1E293B"/>
                </a:solidFill>
              </a:rPr>
              <a:t>Target State – Microservices Architecture…. Continued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74904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749040" cy="5029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🌐  API Gateway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Single entry for all clients. Handles routing, auth, rate limiting &amp; SSL termination.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3520440" cy="749808"/>
          </a:xfrm>
          <a:prstGeom prst="rect">
            <a:avLst/>
          </a:prstGeom>
          <a:solidFill>
            <a:srgbClr val="0078D4">
              <a:alpha val="1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293B"/>
                </a:solidFill>
              </a:rPr>
              <a:t>Example: Azure API Management → Routes to User / Booking / Payment Services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51960" y="1051560"/>
            <a:ext cx="374904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51960" y="1051560"/>
            <a:ext cx="374904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4340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🗃  Database per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161848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Each microservice owns its own data store. Enables persistence &amp; loose coupling.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2651760"/>
            <a:ext cx="3520440" cy="749808"/>
          </a:xfrm>
          <a:prstGeom prst="rect">
            <a:avLst/>
          </a:prstGeom>
          <a:solidFill>
            <a:srgbClr val="22C55E">
              <a:alpha val="1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34840" y="26974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293B"/>
                </a:solidFill>
              </a:rPr>
              <a:t>Example: </a:t>
            </a:r>
            <a:r>
              <a:rPr lang="en-US" sz="850" i="1" dirty="0" err="1">
                <a:solidFill>
                  <a:srgbClr val="1E293B"/>
                </a:solidFill>
              </a:rPr>
              <a:t>User→SqlServer</a:t>
            </a:r>
            <a:r>
              <a:rPr lang="en-US" sz="850" i="1" dirty="0">
                <a:solidFill>
                  <a:srgbClr val="1E293B"/>
                </a:solidFill>
              </a:rPr>
              <a:t>, </a:t>
            </a:r>
            <a:r>
              <a:rPr lang="en-US" sz="850" i="1" dirty="0" err="1">
                <a:solidFill>
                  <a:srgbClr val="1E293B"/>
                </a:solidFill>
              </a:rPr>
              <a:t>Catalog→CosmosDB</a:t>
            </a:r>
            <a:r>
              <a:rPr lang="en-US" sz="850" i="1" dirty="0">
                <a:solidFill>
                  <a:srgbClr val="1E293B"/>
                </a:solidFill>
              </a:rPr>
              <a:t>, </a:t>
            </a:r>
            <a:r>
              <a:rPr lang="en-US" sz="850" i="1" dirty="0" err="1">
                <a:solidFill>
                  <a:srgbClr val="1E293B"/>
                </a:solidFill>
              </a:rPr>
              <a:t>Session→Redis</a:t>
            </a:r>
            <a:r>
              <a:rPr lang="en-US" sz="850" i="1" dirty="0">
                <a:solidFill>
                  <a:srgbClr val="1E293B"/>
                </a:solidFill>
              </a:rPr>
              <a:t> Cache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0" y="1051560"/>
            <a:ext cx="374904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29600" y="1051560"/>
            <a:ext cx="3749040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32104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⚡  Event-Driven / CQRS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161848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Commands and Queries separated. Events published to broker for async, resilient communication.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21040" y="2651760"/>
            <a:ext cx="3520440" cy="749808"/>
          </a:xfrm>
          <a:prstGeom prst="rect">
            <a:avLst/>
          </a:prstGeom>
          <a:solidFill>
            <a:srgbClr val="8B5CF6">
              <a:alpha val="1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412480" y="26974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293B"/>
                </a:solidFill>
              </a:rPr>
              <a:t>Example: BookingCreated → triggers Notification + Payment services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374904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749040"/>
            <a:ext cx="3749040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🔁  Saga Pattern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431596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Distributed transaction management using compensating transactions across services.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5349240"/>
            <a:ext cx="3520440" cy="749808"/>
          </a:xfrm>
          <a:prstGeom prst="rect">
            <a:avLst/>
          </a:prstGeom>
          <a:solidFill>
            <a:srgbClr val="F97316">
              <a:alpha val="1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53949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293B"/>
                </a:solidFill>
              </a:rPr>
              <a:t>Example: Book Ticket → Reserve Seat → Process Payment → Confirm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51960" y="3749040"/>
            <a:ext cx="374904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51960" y="3749040"/>
            <a:ext cx="374904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34340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🛡  Circuit Breaker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0" y="431596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Prevents cascade failures. Short-circuits calls to failing services to allow recovery.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43400" y="5349240"/>
            <a:ext cx="3520440" cy="749808"/>
          </a:xfrm>
          <a:prstGeom prst="rect">
            <a:avLst/>
          </a:prstGeom>
          <a:solidFill>
            <a:srgbClr val="EF4444">
              <a:alpha val="1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434840" y="53949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293B"/>
                </a:solidFill>
              </a:rPr>
              <a:t>Example: Payment down → queue for retry, user gets pending confirmation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29600" y="3749040"/>
            <a:ext cx="374904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29600" y="3749040"/>
            <a:ext cx="374904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321040" y="3749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🔎  </a:t>
            </a:r>
            <a:r>
              <a:rPr lang="en-US" sz="1300" b="1" dirty="0" err="1">
                <a:solidFill>
                  <a:srgbClr val="1E293B"/>
                </a:solidFill>
              </a:rPr>
              <a:t>Dapr</a:t>
            </a:r>
            <a:r>
              <a:rPr lang="en-US" sz="1300" b="1" dirty="0">
                <a:solidFill>
                  <a:srgbClr val="1E293B"/>
                </a:solidFill>
              </a:rPr>
              <a:t> and Service Mesh (Sidecar)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66760" y="431596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err="1">
                <a:solidFill>
                  <a:srgbClr val="1E293B"/>
                </a:solidFill>
              </a:rPr>
              <a:t>Dapr</a:t>
            </a:r>
            <a:r>
              <a:rPr lang="en-US" sz="950" dirty="0">
                <a:solidFill>
                  <a:srgbClr val="1E293B"/>
                </a:solidFill>
              </a:rPr>
              <a:t>: Service Invocation, Pub/Sub Messaging, State Management, Secret Management, Circuit Breaker</a:t>
            </a:r>
          </a:p>
          <a:p>
            <a:endParaRPr lang="en-US" sz="950" dirty="0">
              <a:solidFill>
                <a:srgbClr val="E8F0F7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Service Mesh: Observability, mTLS security, and traffic management via sidecar proxies, no code changes.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21040" y="5349240"/>
            <a:ext cx="3520440" cy="749808"/>
          </a:xfrm>
          <a:prstGeom prst="rect">
            <a:avLst/>
          </a:prstGeom>
          <a:solidFill>
            <a:srgbClr val="F59E0B">
              <a:alpha val="1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412480" y="53949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293B"/>
                </a:solidFill>
              </a:rPr>
              <a:t>Example:  Dapr on AKS for all inter-service communication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6473952"/>
            <a:ext cx="11612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EB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12161520" cy="640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</a:rPr>
              <a:t>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</a:rPr>
              <a:t>Target State Cloud Architecture – IaaS, PaaS, CaaS &amp; AI/ML on Azure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749040" cy="5486400"/>
          </a:xfrm>
          <a:prstGeom prst="rect">
            <a:avLst/>
          </a:prstGeom>
          <a:solidFill>
            <a:srgbClr val="DDE8F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749040" cy="4754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IaaS (during migration phase, Hybrid)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" y="1664208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438912" y="1664208"/>
            <a:ext cx="64008" cy="5212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1664208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Virtual Machines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340864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8912" y="2340864"/>
            <a:ext cx="64008" cy="5212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340864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VM Scale Sets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017520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8912" y="3017520"/>
            <a:ext cx="64008" cy="5212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017520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Virtual Network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756916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38912" y="3694176"/>
            <a:ext cx="64008" cy="5212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8912" y="4370832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8912" y="4370832"/>
            <a:ext cx="64008" cy="5212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4370832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Bastion (SSH)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5047488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38912" y="5047488"/>
            <a:ext cx="64008" cy="5212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5047488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Network Security Groups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" y="5724144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38912" y="5724144"/>
            <a:ext cx="64008" cy="5212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94360" y="5724144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Disk Storage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24528" y="1051560"/>
            <a:ext cx="3749040" cy="5486400"/>
          </a:xfrm>
          <a:prstGeom prst="rect">
            <a:avLst/>
          </a:prstGeom>
          <a:solidFill>
            <a:srgbClr val="DDE8F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24528" y="1051560"/>
            <a:ext cx="3749040" cy="47548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24528" y="1051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PaaS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89120" y="1664208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389120" y="1664208"/>
            <a:ext cx="64008" cy="5212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44568" y="1664208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Static </a:t>
            </a:r>
            <a:r>
              <a:rPr lang="en-US" sz="1100" dirty="0" err="1">
                <a:solidFill>
                  <a:srgbClr val="1E293B"/>
                </a:solidFill>
              </a:rPr>
              <a:t>WebApps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89120" y="2340864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389120" y="2340864"/>
            <a:ext cx="64008" cy="5212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44568" y="2340864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SQL / CosmosDB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0" y="3017520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389120" y="3017520"/>
            <a:ext cx="64008" cy="5212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44568" y="3017520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Cache (Redis)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0" y="3694176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389120" y="3694176"/>
            <a:ext cx="64008" cy="5212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544568" y="3694176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Service Bus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89120" y="4370832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389120" y="4370832"/>
            <a:ext cx="64008" cy="5212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44568" y="4370832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API Management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89120" y="5047488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389120" y="5047488"/>
            <a:ext cx="64008" cy="5212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544568" y="5047488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Functions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389120" y="5724144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389120" y="5724144"/>
            <a:ext cx="64008" cy="521208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544568" y="5724144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Key Vaults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74736" y="1051560"/>
            <a:ext cx="3749040" cy="5486400"/>
          </a:xfrm>
          <a:prstGeom prst="rect">
            <a:avLst/>
          </a:prstGeom>
          <a:solidFill>
            <a:srgbClr val="DDE8F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174736" y="1051560"/>
            <a:ext cx="3749040" cy="4754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174736" y="1051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CaaS + AI/ML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39328" y="1664208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8339328" y="1664208"/>
            <a:ext cx="64008" cy="5212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494776" y="1664208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Kubernetes Service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339328" y="2340864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8339328" y="2340864"/>
            <a:ext cx="64008" cy="5212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494776" y="2340864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Container Registry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39328" y="3017520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339328" y="3017520"/>
            <a:ext cx="64008" cy="5212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8494776" y="3017520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/>
              <a:t>Dapr</a:t>
            </a:r>
            <a:r>
              <a:rPr lang="en-US" sz="1100" dirty="0"/>
              <a:t> (</a:t>
            </a:r>
            <a:r>
              <a:rPr lang="en-IN" sz="1100" dirty="0"/>
              <a:t>distributed application runtime</a:t>
            </a:r>
            <a:r>
              <a:rPr lang="en-US" sz="1100" dirty="0"/>
              <a:t>)</a:t>
            </a:r>
          </a:p>
        </p:txBody>
      </p:sp>
      <p:sp>
        <p:nvSpPr>
          <p:cNvPr id="66" name="Shape 64"/>
          <p:cNvSpPr/>
          <p:nvPr/>
        </p:nvSpPr>
        <p:spPr>
          <a:xfrm>
            <a:off x="8339328" y="3694176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8339328" y="3694176"/>
            <a:ext cx="64008" cy="5212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8494776" y="3694176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OpenAI Service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339328" y="4370832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8339328" y="4370832"/>
            <a:ext cx="64008" cy="5212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8494776" y="4370832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Machine Learning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339328" y="5047488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8339328" y="5047488"/>
            <a:ext cx="64008" cy="5212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8494776" y="5047488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Cognitive Services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339328" y="5724144"/>
            <a:ext cx="3419856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8339328" y="5724144"/>
            <a:ext cx="64008" cy="5212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8494776" y="5724144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Azure AI Search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74320" y="6473952"/>
            <a:ext cx="11612880" cy="310896"/>
          </a:xfrm>
          <a:prstGeom prst="rect">
            <a:avLst/>
          </a:prstGeom>
          <a:solidFill>
            <a:srgbClr val="7030A0">
              <a:alpha val="7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9" name="Text 77"/>
          <p:cNvSpPr/>
          <p:nvPr/>
        </p:nvSpPr>
        <p:spPr>
          <a:xfrm>
            <a:off x="274320" y="6473952"/>
            <a:ext cx="1161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AI/ML Use Cases:  Personalised Recommendations  |  Demand Forecasting  |  Fraud Detection  |  Chatbot Support  |  Smart Seat Search</a:t>
            </a: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8A29D850-14E1-9994-E1DD-154616E50373}"/>
              </a:ext>
            </a:extLst>
          </p:cNvPr>
          <p:cNvSpPr/>
          <p:nvPr/>
        </p:nvSpPr>
        <p:spPr>
          <a:xfrm>
            <a:off x="502920" y="3712464"/>
            <a:ext cx="3355848" cy="5212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Text 15">
            <a:extLst>
              <a:ext uri="{FF2B5EF4-FFF2-40B4-BE49-F238E27FC236}">
                <a16:creationId xmlns:a16="http://schemas.microsoft.com/office/drawing/2014/main" id="{68813B02-4E4C-E59E-0E4F-320AE673ED30}"/>
              </a:ext>
            </a:extLst>
          </p:cNvPr>
          <p:cNvSpPr/>
          <p:nvPr/>
        </p:nvSpPr>
        <p:spPr>
          <a:xfrm>
            <a:off x="594360" y="3694176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VPN Gateway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1216152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</a:rPr>
              <a:t>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Migration &amp; Modernization Approach with ISV Tools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88920" cy="4983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88920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🔍 Phase 1 – Assess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Tasks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19095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App portfolio analysis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4144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313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Dependency mapping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52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7172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Code complexity scan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2644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1287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TCO &amp; ROI assessment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2560320" cy="256032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ISV Tools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256032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  Azure Migrate</a:t>
            </a:r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256032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48920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  CAST Highlight</a:t>
            </a:r>
          </a:p>
        </p:txBody>
      </p:sp>
      <p:sp>
        <p:nvSpPr>
          <p:cNvPr id="24" name="Shape 22"/>
          <p:cNvSpPr/>
          <p:nvPr/>
        </p:nvSpPr>
        <p:spPr>
          <a:xfrm>
            <a:off x="3246120" y="1051560"/>
            <a:ext cx="2788920" cy="4983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46120" y="1051560"/>
            <a:ext cx="2788920" cy="5669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10515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🗺 Phase 2 – Strategize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Tasks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202996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66160" y="19095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6R Strategy (Rehost, Refactor, </a:t>
            </a:r>
            <a:r>
              <a:rPr lang="en-US" sz="950" dirty="0" err="1">
                <a:solidFill>
                  <a:srgbClr val="1E293B"/>
                </a:solidFill>
              </a:rPr>
              <a:t>Replatform</a:t>
            </a:r>
            <a:r>
              <a:rPr lang="en-US" sz="950" dirty="0">
                <a:solidFill>
                  <a:srgbClr val="1E293B"/>
                </a:solidFill>
              </a:rPr>
              <a:t>, Rebuild, Rearchitect, Retire)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244144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66160" y="23058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Domain decomposition (DDD)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285292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66160" y="27096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Target architecture design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0" y="326440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566160" y="31135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Risk &amp; compliance assessment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4160520"/>
            <a:ext cx="2560320" cy="256032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3756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ISV Tools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37560" y="4480560"/>
            <a:ext cx="256032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383280" y="448056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  CAST Imaging</a:t>
            </a:r>
          </a:p>
        </p:txBody>
      </p:sp>
      <p:sp>
        <p:nvSpPr>
          <p:cNvPr id="40" name="Shape 38"/>
          <p:cNvSpPr/>
          <p:nvPr/>
        </p:nvSpPr>
        <p:spPr>
          <a:xfrm>
            <a:off x="3337560" y="4892040"/>
            <a:ext cx="256032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1" name="Text 39"/>
          <p:cNvSpPr/>
          <p:nvPr/>
        </p:nvSpPr>
        <p:spPr>
          <a:xfrm>
            <a:off x="3383280" y="48920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  App Service Migration Assistant (Az Migrate)</a:t>
            </a:r>
          </a:p>
        </p:txBody>
      </p:sp>
      <p:sp>
        <p:nvSpPr>
          <p:cNvPr id="42" name="Shape 40"/>
          <p:cNvSpPr/>
          <p:nvPr/>
        </p:nvSpPr>
        <p:spPr>
          <a:xfrm>
            <a:off x="6217920" y="1051560"/>
            <a:ext cx="2788920" cy="4983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217920" y="1051560"/>
            <a:ext cx="2788920" cy="566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09360" y="10515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🧪 Phase 3 – Pilot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5508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Tasks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55080" y="20299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37960" y="19019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Extract 1–2 pilot services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24414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37960" y="23134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CI/CD pipeline setup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55080" y="2852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537960" y="27249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Containerize &amp; validate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55080" y="32644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537960" y="31287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Blue-Green in staging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09360" y="4160520"/>
            <a:ext cx="256032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30936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ISV Tools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09360" y="4480560"/>
            <a:ext cx="256032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355080" y="448056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  Azure DevOps</a:t>
            </a:r>
          </a:p>
        </p:txBody>
      </p:sp>
      <p:sp>
        <p:nvSpPr>
          <p:cNvPr id="58" name="Shape 56"/>
          <p:cNvSpPr/>
          <p:nvPr/>
        </p:nvSpPr>
        <p:spPr>
          <a:xfrm>
            <a:off x="6309360" y="4892040"/>
            <a:ext cx="256032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355080" y="48920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  GitHub Actions</a:t>
            </a:r>
          </a:p>
        </p:txBody>
      </p:sp>
      <p:sp>
        <p:nvSpPr>
          <p:cNvPr id="60" name="Shape 58"/>
          <p:cNvSpPr/>
          <p:nvPr/>
        </p:nvSpPr>
        <p:spPr>
          <a:xfrm>
            <a:off x="9189720" y="1051560"/>
            <a:ext cx="2788920" cy="4983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9189720" y="1051560"/>
            <a:ext cx="278892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9281160" y="10515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🚀 Phase 4 – Migrate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32688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Tasks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326880" y="202996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9509760" y="19019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Strangler Fig extraction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326880" y="244144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9509760" y="23058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Data migration &amp; CDC sync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326880" y="285292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9509760" y="27172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Sidecar rollout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326880" y="326440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9509760" y="3121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Production Blue-Green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281160" y="4160520"/>
            <a:ext cx="2560320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928116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ISV Tools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281160" y="4480560"/>
            <a:ext cx="256032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9326880" y="448056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  Terraform/Bicep + Helm</a:t>
            </a:r>
          </a:p>
        </p:txBody>
      </p:sp>
      <p:sp>
        <p:nvSpPr>
          <p:cNvPr id="76" name="Shape 74"/>
          <p:cNvSpPr/>
          <p:nvPr/>
        </p:nvSpPr>
        <p:spPr>
          <a:xfrm>
            <a:off x="9281160" y="4892040"/>
            <a:ext cx="2560320" cy="33832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9326880" y="48920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  Dapr on AKS</a:t>
            </a:r>
          </a:p>
        </p:txBody>
      </p:sp>
      <p:sp>
        <p:nvSpPr>
          <p:cNvPr id="78" name="Shape 76"/>
          <p:cNvSpPr/>
          <p:nvPr/>
        </p:nvSpPr>
        <p:spPr>
          <a:xfrm>
            <a:off x="274320" y="6108192"/>
            <a:ext cx="11612880" cy="65836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11480" y="6144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ISV Ecosystem: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194560" y="6199632"/>
            <a:ext cx="1508760" cy="457200"/>
          </a:xfrm>
          <a:prstGeom prst="rect">
            <a:avLst/>
          </a:prstGeom>
          <a:solidFill>
            <a:srgbClr val="0078D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2194560" y="6199632"/>
            <a:ext cx="1508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Azure Migrate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867912" y="6199632"/>
            <a:ext cx="1508760" cy="457200"/>
          </a:xfrm>
          <a:prstGeom prst="rect">
            <a:avLst/>
          </a:prstGeom>
          <a:solidFill>
            <a:srgbClr val="0078D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3867912" y="6199632"/>
            <a:ext cx="1508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CAST Highlight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541264" y="6199632"/>
            <a:ext cx="1508760" cy="457200"/>
          </a:xfrm>
          <a:prstGeom prst="rect">
            <a:avLst/>
          </a:prstGeom>
          <a:solidFill>
            <a:srgbClr val="0078D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5541264" y="6199632"/>
            <a:ext cx="1508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Coverity (Security)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214616" y="6199632"/>
            <a:ext cx="1508760" cy="457200"/>
          </a:xfrm>
          <a:prstGeom prst="rect">
            <a:avLst/>
          </a:prstGeom>
          <a:solidFill>
            <a:srgbClr val="0078D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214616" y="6199632"/>
            <a:ext cx="1508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SonarQube (Code)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887968" y="6199632"/>
            <a:ext cx="1508760" cy="457200"/>
          </a:xfrm>
          <a:prstGeom prst="rect">
            <a:avLst/>
          </a:prstGeom>
          <a:solidFill>
            <a:srgbClr val="0078D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8887968" y="6199632"/>
            <a:ext cx="1508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GitHub Copilot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0561320" y="6199632"/>
            <a:ext cx="1508760" cy="457200"/>
          </a:xfrm>
          <a:prstGeom prst="rect">
            <a:avLst/>
          </a:prstGeom>
          <a:solidFill>
            <a:srgbClr val="0078D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10561320" y="6199632"/>
            <a:ext cx="1508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Claude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52">
            <a:extLst>
              <a:ext uri="{FF2B5EF4-FFF2-40B4-BE49-F238E27FC236}">
                <a16:creationId xmlns:a16="http://schemas.microsoft.com/office/drawing/2014/main" id="{6F8236F3-9EE1-4046-3C41-2D6F417894D0}"/>
              </a:ext>
            </a:extLst>
          </p:cNvPr>
          <p:cNvSpPr/>
          <p:nvPr/>
        </p:nvSpPr>
        <p:spPr>
          <a:xfrm>
            <a:off x="296696" y="6417137"/>
            <a:ext cx="11612880" cy="310896"/>
          </a:xfrm>
          <a:prstGeom prst="rect">
            <a:avLst/>
          </a:prstGeom>
          <a:solidFill>
            <a:srgbClr val="7030A0">
              <a:alpha val="7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12161520" cy="640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C55E"/>
                </a:solidFill>
              </a:rPr>
              <a:t>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Pricing &amp; Sizing Template – Team &amp; Effort Sizing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7040880" cy="40233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Role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05156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0515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Sprints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05156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Weeks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0515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Responsibility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453896"/>
            <a:ext cx="7040880" cy="43891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146304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Solution Architect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146304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14630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146304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14630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End-to-end design, Azure sizing &amp; governance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892808"/>
            <a:ext cx="70408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190195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Cloud DevOps Engineer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19019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190195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2–10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08960" y="19019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03320" y="190195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AKS setup, CI/CD pipelines, IaC Terraform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331720"/>
            <a:ext cx="7040880" cy="43891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2340864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Backend Developer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74520" y="234086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234086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All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0" y="234086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03320" y="23408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Microservice extraction (.NET 10)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770632"/>
            <a:ext cx="70408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" y="277977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Frontend Developer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74520" y="277977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68880" y="277977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4–12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08960" y="277977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03320" y="27797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Angular/React SPA, Azure AD auth, API integration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209544"/>
            <a:ext cx="7040880" cy="43891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218688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QA / Test Engineer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74520" y="321868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68880" y="32186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3–12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08960" y="321868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03320" y="32186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Integration, performance, E2E automation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648456"/>
            <a:ext cx="70408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65760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Data Engineer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74520" y="365760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68880" y="365760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6–14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108960" y="365760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703320" y="36576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DB migration, CDC pipelines, CosmosDB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087368"/>
            <a:ext cx="7040880" cy="43891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0040" y="409651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Security Engineer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874520" y="409651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468880" y="409651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All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108960" y="409651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03320" y="40965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Zero trust, RBAC, Defender, pen testing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4526280"/>
            <a:ext cx="70408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0040" y="4535424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AI/ML Engineer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874520" y="453542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468880" y="45354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10–18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108960" y="453542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703320" y="453542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Recommendation engine, Azure OpenAI GPT-4o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965192"/>
            <a:ext cx="7040880" cy="43891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497433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Project Manager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874520" y="497433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468880" y="497433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All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108960" y="497433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703320" y="497433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Delivery, stakeholders, risk &amp; reporting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5486400"/>
            <a:ext cx="7040880" cy="411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365760" y="5532120"/>
            <a:ext cx="1554480" cy="32004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65760" y="5532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Total FTEs: 15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103120" y="5532120"/>
            <a:ext cx="1554480" cy="32004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2103120" y="5532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Duration: 24 Weeks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840480" y="5532120"/>
            <a:ext cx="1554480" cy="32004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840480" y="5532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Sprints: 12 × 2-week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577840" y="5532120"/>
            <a:ext cx="1554480" cy="32004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577840" y="5532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Budget: &lt;</a:t>
            </a:r>
            <a:r>
              <a:rPr lang="en-US" sz="850" b="1" dirty="0">
                <a:solidFill>
                  <a:schemeClr val="accent4"/>
                </a:solidFill>
              </a:rPr>
              <a:t>Not Known</a:t>
            </a:r>
            <a:r>
              <a:rPr lang="en-US" sz="850" b="1" dirty="0">
                <a:solidFill>
                  <a:srgbClr val="1E293B"/>
                </a:solidFill>
              </a:rPr>
              <a:t>&gt; (labor)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498080" y="1051560"/>
            <a:ext cx="4389120" cy="40233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7498080" y="10515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AZURE MONTHLY COST ESTIMATE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498080" y="1453896"/>
            <a:ext cx="4389120" cy="40233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5895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AKS – 3 Node Prod Cluster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60704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$420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498080" y="1856232"/>
            <a:ext cx="43891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589520" y="18653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Azure SQL (Business Critical)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607040" y="186537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$550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498080" y="2258568"/>
            <a:ext cx="4389120" cy="40233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589520" y="2267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Azure CosmosDB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607040" y="22677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$200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498080" y="2660904"/>
            <a:ext cx="43891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589520" y="2670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Azure Cache for Redis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0607040" y="26700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$130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498080" y="3063240"/>
            <a:ext cx="4389120" cy="40233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7589520" y="3072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Azure Service Bus (Premium)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0607040" y="30723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$250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498080" y="3465576"/>
            <a:ext cx="43891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758952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Azure API Management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060704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$350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498080" y="3867912"/>
            <a:ext cx="4389120" cy="40233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7589520" y="38770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Azure OpenAI Service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0607040" y="38770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$300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498080" y="4270248"/>
            <a:ext cx="43891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7589520" y="4279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Azure Monitor / App Insights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0607040" y="42793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$150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498080" y="4672584"/>
            <a:ext cx="4389120" cy="40233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7589520" y="4681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Azure Container Registry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0607040" y="46817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$50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498080" y="5074920"/>
            <a:ext cx="438912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7589520" y="50840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CDN + Azure Front Door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0607040" y="50840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$120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498080" y="5477256"/>
            <a:ext cx="4389120" cy="40233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758952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Backup &amp; DR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10607040" y="5486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D4"/>
                </a:solidFill>
              </a:rPr>
              <a:t>$180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7498080" y="5870448"/>
            <a:ext cx="4389120" cy="43891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7543800" y="58704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Estimated Monthly Total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10515600" y="5870448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93B"/>
                </a:solidFill>
              </a:rPr>
              <a:t>~$2,700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274320" y="6434266"/>
            <a:ext cx="11612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*East US region estimates  |  Excludes licensing &amp; professional services  |  Add 15% contingency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EB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12161520" cy="640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</a:rPr>
              <a:t>07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</a:rPr>
              <a:t>AI Agents for App Modernization – Reverse &amp; Forward Engineering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577840" cy="5394960"/>
          </a:xfrm>
          <a:prstGeom prst="rect">
            <a:avLst/>
          </a:prstGeom>
          <a:solidFill>
            <a:srgbClr val="DDE8F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57784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REVERSE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/>
              <a:t>Understanding the Legacy Codebase with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93852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Code Parsing &amp; AST (Syntax tree) Analysis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224942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AI scans legacy .NET source code, generates abstract syntax trees to understand module boundaries and coupling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76148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76148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78892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Dependency Graph Generation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307238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Auto-generate service dependency maps, identify circular dependencies and coupling anti-patterns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58444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58444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61188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Business Logic Extraction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51560" y="389534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LLMs annotate booking rules, seat allocation logic, and pricing engines hidden in complex legacy 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40740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440740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443484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Auto-Documentation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51560" y="471830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Generate up-to-date API docs, data dictionaries, and architecture diagrams directly from source 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523036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1480" y="523036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525780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Dead Code &amp; Tech Debt Scan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51560" y="554126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Identify unused endpoints, obsolete DB tables, deprecated libraries and security vulnerabilities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1005840"/>
            <a:ext cx="5577840" cy="5394960"/>
          </a:xfrm>
          <a:prstGeom prst="rect">
            <a:avLst/>
          </a:prstGeom>
          <a:solidFill>
            <a:srgbClr val="DDE8F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09360" y="1005840"/>
            <a:ext cx="5577840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09360" y="1005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FORWARD ENGINEERING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15544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/>
              <a:t>Generating the Target State with AI Agents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193852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46520" y="193852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86600" y="196596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Microservice Scaffolding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86600" y="224942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Copilot / Azure OpenAI generates boilerplate for each service: controllers, repositories, Dockerfiles, Helm charts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46520" y="276148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46520" y="276148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86600" y="278892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API Contract Generation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86600" y="307238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AI produces OpenAPI 3.0 specs from extracted business logic and auto-stubs client SDKs for all services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46520" y="358444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46520" y="358444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086600" y="361188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Test Case Generation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86600" y="389534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Agents write unit and integration tests automatically, targeting business rules extracted from legacy code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46520" y="440740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46520" y="440740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086600" y="443484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IaC Code Generation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086600" y="471830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AI generates Terraform / Bicep templates for AKS clusters, databases, networking from architecture diagrams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46520" y="5230368"/>
            <a:ext cx="5303520" cy="713232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446520" y="523036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086600" y="5257800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E6FF"/>
                </a:solidFill>
              </a:rPr>
              <a:t>Security Policy Automation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086600" y="5541264"/>
            <a:ext cx="4553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Copilot suggests RBAC roles, mTLS configs, Network Policies, and OWASP fixes inline during code reviews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6473952"/>
            <a:ext cx="11612880" cy="310896"/>
          </a:xfrm>
          <a:prstGeom prst="rect">
            <a:avLst/>
          </a:prstGeom>
          <a:solidFill>
            <a:srgbClr val="7030A0">
              <a:alpha val="7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5" name="Text 53"/>
          <p:cNvSpPr/>
          <p:nvPr/>
        </p:nvSpPr>
        <p:spPr>
          <a:xfrm>
            <a:off x="274320" y="6473952"/>
            <a:ext cx="1161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AI Tools:  GitHub Copilot  |  Azure OpenAI GPT-4o  |  CAST Highlight   |  Code Completion AI Suggestion  using </a:t>
            </a:r>
            <a:r>
              <a:rPr lang="en-US" sz="1000" dirty="0" err="1">
                <a:solidFill>
                  <a:schemeClr val="bg1"/>
                </a:solidFill>
              </a:rPr>
              <a:t>Github</a:t>
            </a:r>
            <a:r>
              <a:rPr lang="en-US" sz="1000" dirty="0">
                <a:solidFill>
                  <a:schemeClr val="bg1"/>
                </a:solidFill>
              </a:rPr>
              <a:t> copilot | Spec-Kit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5029200" cy="5029200"/>
          </a:xfrm>
          <a:prstGeom prst="ellipse">
            <a:avLst/>
          </a:prstGeom>
          <a:solidFill>
            <a:srgbClr val="D6E8F7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0" y="1371600"/>
            <a:ext cx="3200400" cy="3200400"/>
          </a:xfrm>
          <a:prstGeom prst="ellipse">
            <a:avLst/>
          </a:prstGeom>
          <a:solidFill>
            <a:srgbClr val="0078D4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0E6FF"/>
                </a:solidFill>
              </a:rPr>
              <a:t>Ready to Modernize CineBook?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3246120"/>
            <a:ext cx="5029200" cy="45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97280" y="345643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0" y="332536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Strangler Fig pattern – incremental migration with zero downtime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395935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0" y="382828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Azure AKS + Service Bus as modernization backbone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97280" y="446227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431596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AI agents accelerate both analysis and code generation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97280" y="496519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71600" y="483412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Full CI/CD, observability and zero </a:t>
            </a:r>
            <a:r>
              <a:rPr lang="en-US" sz="1350">
                <a:solidFill>
                  <a:srgbClr val="1E293B"/>
                </a:solidFill>
              </a:rPr>
              <a:t>trust built-in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97280" y="5532120"/>
            <a:ext cx="5029200" cy="45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5669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1349</TotalTime>
  <Words>1812</Words>
  <Application>Microsoft Office PowerPoint</Application>
  <PresentationFormat>Widescreen</PresentationFormat>
  <Paragraphs>353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Monolith to Microservices – Movie Ticket Booking System</dc:title>
  <dc:subject>PptxGenJS Presentation</dc:subject>
  <dc:creator>PptxGenJS</dc:creator>
  <cp:lastModifiedBy>Sachin Kumar</cp:lastModifiedBy>
  <cp:revision>26</cp:revision>
  <dcterms:created xsi:type="dcterms:W3CDTF">2026-05-16T08:11:31Z</dcterms:created>
  <dcterms:modified xsi:type="dcterms:W3CDTF">2026-05-20T13:34:56Z</dcterms:modified>
</cp:coreProperties>
</file>